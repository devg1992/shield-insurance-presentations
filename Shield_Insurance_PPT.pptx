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3" autoAdjust="0"/>
  </p:normalViewPr>
  <p:slideViewPr>
    <p:cSldViewPr>
      <p:cViewPr>
        <p:scale>
          <a:sx n="75" d="100"/>
          <a:sy n="75" d="100"/>
        </p:scale>
        <p:origin x="1992" y="-1315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15-Apr-25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15-Apr-25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15-Apr-25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15-Apr-25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15-Apr-25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900176"/>
            <a:ext cx="262509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15-Apr-25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3.wav"/><Relationship Id="rId7" Type="http://schemas.openxmlformats.org/officeDocument/2006/relationships/image" Target="../media/image5.jp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5.wav"/><Relationship Id="rId7" Type="http://schemas.openxmlformats.org/officeDocument/2006/relationships/image" Target="../media/image7.png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4" Type="http://schemas.openxmlformats.org/officeDocument/2006/relationships/audio" Target="../media/media5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7.wav"/><Relationship Id="rId7" Type="http://schemas.openxmlformats.org/officeDocument/2006/relationships/image" Target="../media/image9.png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5.xml"/><Relationship Id="rId4" Type="http://schemas.openxmlformats.org/officeDocument/2006/relationships/audio" Target="../media/media7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5" Type="http://schemas.openxmlformats.org/officeDocument/2006/relationships/image" Target="../media/image3.pn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457200"/>
            <a:ext cx="1790699" cy="1690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850" y="4073645"/>
            <a:ext cx="6384290" cy="86296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60"/>
              </a:spcBef>
            </a:pPr>
            <a:r>
              <a:rPr sz="4600" u="none" spc="480" dirty="0">
                <a:solidFill>
                  <a:srgbClr val="1A1A1A"/>
                </a:solidFill>
                <a:latin typeface="Algerian"/>
                <a:cs typeface="Algerian"/>
              </a:rPr>
              <a:t>SHIELD</a:t>
            </a:r>
            <a:r>
              <a:rPr sz="4600" u="none" spc="215" dirty="0">
                <a:solidFill>
                  <a:srgbClr val="1A1A1A"/>
                </a:solidFill>
                <a:latin typeface="Algerian"/>
                <a:cs typeface="Algerian"/>
              </a:rPr>
              <a:t> </a:t>
            </a:r>
            <a:r>
              <a:rPr sz="4600" u="none" spc="509" dirty="0">
                <a:latin typeface="Algerian"/>
                <a:cs typeface="Algerian"/>
              </a:rPr>
              <a:t>INSURANCE</a:t>
            </a:r>
            <a:endParaRPr sz="4600" dirty="0">
              <a:latin typeface="Algerian"/>
              <a:cs typeface="Algeri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088" y="5038337"/>
            <a:ext cx="5840095" cy="31115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871219">
              <a:lnSpc>
                <a:spcPct val="100000"/>
              </a:lnSpc>
              <a:spcBef>
                <a:spcPts val="35"/>
              </a:spcBef>
            </a:pPr>
            <a:r>
              <a:rPr sz="1750" dirty="0">
                <a:latin typeface="Calibri"/>
                <a:cs typeface="Calibri"/>
              </a:rPr>
              <a:t>Key</a:t>
            </a:r>
            <a:r>
              <a:rPr sz="1750" spc="204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Metrics</a:t>
            </a:r>
            <a:r>
              <a:rPr sz="1750" spc="165" dirty="0">
                <a:latin typeface="Calibri"/>
                <a:cs typeface="Calibri"/>
              </a:rPr>
              <a:t> </a:t>
            </a:r>
            <a:r>
              <a:rPr sz="1750" spc="55" dirty="0">
                <a:latin typeface="Calibri"/>
                <a:cs typeface="Calibri"/>
              </a:rPr>
              <a:t>&amp;</a:t>
            </a:r>
            <a:r>
              <a:rPr sz="1750" spc="17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Insights</a:t>
            </a:r>
            <a:r>
              <a:rPr sz="1750" spc="1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from</a:t>
            </a:r>
            <a:r>
              <a:rPr sz="1750" spc="17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Power</a:t>
            </a:r>
            <a:r>
              <a:rPr sz="1750" spc="2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BI</a:t>
            </a:r>
            <a:r>
              <a:rPr sz="1750" spc="19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Dashboard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8025" y="114300"/>
            <a:ext cx="506094" cy="504812"/>
          </a:xfrm>
          <a:prstGeom prst="rect">
            <a:avLst/>
          </a:prstGeom>
        </p:spPr>
      </p:pic>
      <p:pic>
        <p:nvPicPr>
          <p:cNvPr id="6" name="Intro ">
            <a:hlinkClick r:id="" action="ppaction://media"/>
            <a:extLst>
              <a:ext uri="{FF2B5EF4-FFF2-40B4-BE49-F238E27FC236}">
                <a16:creationId xmlns:a16="http://schemas.microsoft.com/office/drawing/2014/main" id="{3EDD3B03-1926-97E2-BE5D-FFA6F714A0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67400" y="86868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Company</a:t>
            </a:r>
            <a:r>
              <a:rPr spc="-45" dirty="0"/>
              <a:t> </a:t>
            </a:r>
            <a:r>
              <a:rPr spc="-7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4140"/>
            <a:ext cx="3710940" cy="1228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Shield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Insurance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Company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comprehensive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insurance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individuals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businesses,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ensuring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various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risks.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Known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commitment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customer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security,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Shield </a:t>
            </a:r>
            <a:r>
              <a:rPr sz="1200" dirty="0">
                <a:latin typeface="Calibri"/>
                <a:cs typeface="Calibri"/>
              </a:rPr>
              <a:t>stands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market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focus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coverage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reliability, </a:t>
            </a:r>
            <a:r>
              <a:rPr sz="1200" dirty="0">
                <a:latin typeface="Calibri"/>
                <a:cs typeface="Calibri"/>
              </a:rPr>
              <a:t>helping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customers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feel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safe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secure.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902711"/>
            <a:ext cx="1274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14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Objective</a:t>
            </a:r>
            <a:endParaRPr sz="24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3827" y="3477259"/>
            <a:ext cx="5652135" cy="19596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190500" indent="-228600">
              <a:lnSpc>
                <a:spcPct val="101699"/>
              </a:lnSpc>
              <a:spcBef>
                <a:spcPts val="75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Present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metrics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total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customers,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total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revenue,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daily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revenue,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customer </a:t>
            </a:r>
            <a:r>
              <a:rPr sz="1200" dirty="0">
                <a:latin typeface="Calibri"/>
                <a:cs typeface="Calibri"/>
              </a:rPr>
              <a:t>growth,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month-</a:t>
            </a:r>
            <a:r>
              <a:rPr sz="1200" spc="-20" dirty="0">
                <a:latin typeface="Calibri"/>
                <a:cs typeface="Calibri"/>
              </a:rPr>
              <a:t>over-</a:t>
            </a:r>
            <a:r>
              <a:rPr sz="1200" dirty="0">
                <a:latin typeface="Calibri"/>
                <a:cs typeface="Calibri"/>
              </a:rPr>
              <a:t>month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percentage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changes.</a:t>
            </a:r>
            <a:endParaRPr sz="1200">
              <a:latin typeface="Calibri"/>
              <a:cs typeface="Calibri"/>
            </a:endParaRPr>
          </a:p>
          <a:p>
            <a:pPr marL="241300" marR="333375" indent="-228600">
              <a:lnSpc>
                <a:spcPct val="102499"/>
              </a:lnSpc>
              <a:spcBef>
                <a:spcPts val="45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Analyze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customer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segmentation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group,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city,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uncover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key </a:t>
            </a:r>
            <a:r>
              <a:rPr sz="1200" dirty="0">
                <a:latin typeface="Calibri"/>
                <a:cs typeface="Calibri"/>
              </a:rPr>
              <a:t>revenue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growth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patterns.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01699"/>
              </a:lnSpc>
              <a:spcBef>
                <a:spcPts val="60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Visualize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customer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revenue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trends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interactive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graphs,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including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toggle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options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filters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group,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city,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month.</a:t>
            </a:r>
            <a:endParaRPr sz="1200">
              <a:latin typeface="Calibri"/>
              <a:cs typeface="Calibri"/>
            </a:endParaRPr>
          </a:p>
          <a:p>
            <a:pPr marL="240665" marR="445770" indent="-228600">
              <a:lnSpc>
                <a:spcPct val="101699"/>
              </a:lnSpc>
              <a:spcBef>
                <a:spcPts val="60"/>
              </a:spcBef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Deliver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in-</a:t>
            </a:r>
            <a:r>
              <a:rPr sz="1200" dirty="0">
                <a:latin typeface="Calibri"/>
                <a:cs typeface="Calibri"/>
              </a:rPr>
              <a:t>depth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performance, customer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distribution,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revenue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across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groups,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cities,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channels.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SzPct val="116666"/>
              <a:buFont typeface="Symbol"/>
              <a:buChar char="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Examine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group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behavior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reveal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preferences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policy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types,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/>
                <a:cs typeface="Calibri"/>
              </a:rPr>
              <a:t>expected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settlements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deeper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business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insights.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5618479"/>
            <a:ext cx="2965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Key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400" u="sng" spc="-7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Metrics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Overview</a:t>
            </a:r>
            <a:endParaRPr sz="24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41" y="7307694"/>
            <a:ext cx="5920105" cy="17037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520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Revenue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989M</a:t>
            </a:r>
            <a:endParaRPr sz="1100" dirty="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420"/>
              </a:spcBef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imes New Roman"/>
                <a:cs typeface="Times New Roman"/>
              </a:rPr>
              <a:t>Total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Customers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27K</a:t>
            </a:r>
            <a:endParaRPr sz="1100" dirty="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415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Daily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(DCG)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148.29</a:t>
            </a:r>
            <a:endParaRPr sz="1100" dirty="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420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Daily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Revenue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Growth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(DRG)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5.47M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100" dirty="0">
              <a:latin typeface="Calibri"/>
              <a:cs typeface="Calibri"/>
            </a:endParaRPr>
          </a:p>
          <a:p>
            <a:pPr marL="12700" marR="5080" algn="just">
              <a:lnSpc>
                <a:spcPct val="109500"/>
              </a:lnSpc>
            </a:pPr>
            <a:r>
              <a:rPr sz="1100" dirty="0">
                <a:latin typeface="Calibri"/>
                <a:cs typeface="Calibri"/>
              </a:rPr>
              <a:t>While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metrics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reflect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solid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financial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stability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consistent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customer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acquisition,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lack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dirty="0">
                <a:latin typeface="Calibri"/>
                <a:cs typeface="Calibri"/>
              </a:rPr>
              <a:t>growth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compared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previous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period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highlights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opportunity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enhance</a:t>
            </a:r>
            <a:r>
              <a:rPr sz="1100" spc="-10" dirty="0">
                <a:latin typeface="Calibri"/>
                <a:cs typeface="Calibri"/>
              </a:rPr>
              <a:t> strategies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accelerated progress.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400" y="6129528"/>
            <a:ext cx="5791200" cy="10744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66311" y="1248065"/>
            <a:ext cx="2905123" cy="1915883"/>
          </a:xfrm>
          <a:prstGeom prst="rect">
            <a:avLst/>
          </a:prstGeom>
        </p:spPr>
      </p:pic>
      <p:pic>
        <p:nvPicPr>
          <p:cNvPr id="10" name="Company overview ">
            <a:hlinkClick r:id="" action="ppaction://media"/>
            <a:extLst>
              <a:ext uri="{FF2B5EF4-FFF2-40B4-BE49-F238E27FC236}">
                <a16:creationId xmlns:a16="http://schemas.microsoft.com/office/drawing/2014/main" id="{50E75021-6D5D-C6B2-3F41-58A3BF7E69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75190" y="20076"/>
            <a:ext cx="487363" cy="487363"/>
          </a:xfrm>
          <a:prstGeom prst="rect">
            <a:avLst/>
          </a:prstGeom>
        </p:spPr>
      </p:pic>
      <p:pic>
        <p:nvPicPr>
          <p:cNvPr id="11" name="Metrics ">
            <a:hlinkClick r:id="" action="ppaction://media"/>
            <a:extLst>
              <a:ext uri="{FF2B5EF4-FFF2-40B4-BE49-F238E27FC236}">
                <a16:creationId xmlns:a16="http://schemas.microsoft.com/office/drawing/2014/main" id="{3AC739A1-F328-10DF-3F57-8092F707C5A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867400" y="911514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74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00175"/>
            <a:ext cx="5385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Revenue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0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&amp;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Customer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0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Distribution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by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Age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Group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3304073"/>
            <a:ext cx="5643880" cy="78486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31–40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leads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generation, contributing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₹311M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10,460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41–50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₹227M,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reflecting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strong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engagement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6,031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65+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segment,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though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smaller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customer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count,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delivers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notable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₹204M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revenue,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Calibri"/>
                <a:cs typeface="Calibri"/>
              </a:rPr>
              <a:t>highlighting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high-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-10" dirty="0">
                <a:latin typeface="Calibri"/>
                <a:cs typeface="Calibri"/>
              </a:rPr>
              <a:t> potential.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327651"/>
            <a:ext cx="51974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City-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wise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Revenue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0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&amp;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Customer</a:t>
            </a:r>
            <a:r>
              <a:rPr sz="2000" u="sng" spc="-9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Segmentation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300" y="7000747"/>
            <a:ext cx="5376545" cy="108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Delhi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NCR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top-performing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$402M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11,007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customers,</a:t>
            </a:r>
            <a:endParaRPr sz="11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making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profitable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market.</a:t>
            </a:r>
            <a:endParaRPr sz="1100">
              <a:latin typeface="Calibri"/>
              <a:cs typeface="Calibri"/>
            </a:endParaRPr>
          </a:p>
          <a:p>
            <a:pPr marL="241300" marR="241300" indent="-228600">
              <a:lnSpc>
                <a:spcPct val="101800"/>
              </a:lnSpc>
              <a:spcBef>
                <a:spcPts val="160"/>
              </a:spcBef>
              <a:buSzPct val="109090"/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Mumbai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ranks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second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$240M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6,432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robust penetration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 </a:t>
            </a:r>
            <a:r>
              <a:rPr sz="1100" spc="-10" dirty="0">
                <a:latin typeface="Calibri"/>
                <a:cs typeface="Calibri"/>
              </a:rPr>
              <a:t>key</a:t>
            </a:r>
            <a:r>
              <a:rPr sz="1100" dirty="0">
                <a:latin typeface="Calibri"/>
                <a:cs typeface="Calibri"/>
              </a:rPr>
              <a:t> urban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center.</a:t>
            </a:r>
            <a:endParaRPr sz="1100">
              <a:latin typeface="Calibri"/>
              <a:cs typeface="Calibri"/>
            </a:endParaRPr>
          </a:p>
          <a:p>
            <a:pPr marL="241300" marR="171450" indent="-228600">
              <a:lnSpc>
                <a:spcPct val="101800"/>
              </a:lnSpc>
              <a:spcBef>
                <a:spcPts val="155"/>
              </a:spcBef>
              <a:buSzPct val="109090"/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Chennai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Hyderabad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also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demonstrate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strong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contributions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$106M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$161M respectively,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underscoring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geographic </a:t>
            </a:r>
            <a:r>
              <a:rPr sz="1100" spc="-10" dirty="0">
                <a:latin typeface="Calibri"/>
                <a:cs typeface="Calibri"/>
              </a:rPr>
              <a:t>diversity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revenue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sources.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85644" y="1272603"/>
            <a:ext cx="2800729" cy="19811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81275" y="4913376"/>
            <a:ext cx="2562224" cy="1885327"/>
          </a:xfrm>
          <a:prstGeom prst="rect">
            <a:avLst/>
          </a:prstGeom>
        </p:spPr>
      </p:pic>
      <p:pic>
        <p:nvPicPr>
          <p:cNvPr id="8" name="Reven&amp; customer segment ">
            <a:hlinkClick r:id="" action="ppaction://media"/>
            <a:extLst>
              <a:ext uri="{FF2B5EF4-FFF2-40B4-BE49-F238E27FC236}">
                <a16:creationId xmlns:a16="http://schemas.microsoft.com/office/drawing/2014/main" id="{D294F7D9-6519-F018-21FD-75D2F2522D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43600" y="49772"/>
            <a:ext cx="487363" cy="487363"/>
          </a:xfrm>
          <a:prstGeom prst="rect">
            <a:avLst/>
          </a:prstGeom>
        </p:spPr>
      </p:pic>
      <p:pic>
        <p:nvPicPr>
          <p:cNvPr id="9" name="Ciry wise revenue ">
            <a:hlinkClick r:id="" action="ppaction://media"/>
            <a:extLst>
              <a:ext uri="{FF2B5EF4-FFF2-40B4-BE49-F238E27FC236}">
                <a16:creationId xmlns:a16="http://schemas.microsoft.com/office/drawing/2014/main" id="{1F832455-BBFC-B5C1-D386-692215E43DA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28360" y="8670862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7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900175"/>
            <a:ext cx="30695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14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Month</a:t>
            </a:r>
            <a:r>
              <a:rPr sz="2000" u="sng" spc="-9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wise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Revenue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Trend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4221630"/>
            <a:ext cx="5661660" cy="96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9100"/>
              </a:lnSpc>
              <a:spcBef>
                <a:spcPts val="95"/>
              </a:spcBef>
              <a:buSzPct val="109090"/>
              <a:buFont typeface="Symbol"/>
              <a:buChar char=""/>
              <a:tabLst>
                <a:tab pos="241300" algn="l"/>
              </a:tabLst>
            </a:pPr>
            <a:r>
              <a:rPr sz="1100" b="1" dirty="0">
                <a:latin typeface="Calibri"/>
                <a:cs typeface="Calibri"/>
              </a:rPr>
              <a:t>Monthly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Revenue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Trends: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peaked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₹264M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March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2023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before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dropping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₹143M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April,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earlier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volatility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₹141M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recorded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January.</a:t>
            </a:r>
            <a:endParaRPr sz="1100">
              <a:latin typeface="Calibri"/>
              <a:cs typeface="Calibri"/>
            </a:endParaRPr>
          </a:p>
          <a:p>
            <a:pPr marL="240665" marR="107950" indent="-228600">
              <a:lnSpc>
                <a:spcPct val="109500"/>
              </a:lnSpc>
              <a:spcBef>
                <a:spcPts val="17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spc="-10" dirty="0">
                <a:latin typeface="Calibri"/>
                <a:cs typeface="Calibri"/>
              </a:rPr>
              <a:t>Trend </a:t>
            </a:r>
            <a:r>
              <a:rPr sz="1100" b="1" dirty="0">
                <a:latin typeface="Calibri"/>
                <a:cs typeface="Calibri"/>
              </a:rPr>
              <a:t>Analysis: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sharp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surge—likely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driven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 seasonal</a:t>
            </a:r>
            <a:r>
              <a:rPr sz="1100" spc="-20" dirty="0">
                <a:latin typeface="Calibri"/>
                <a:cs typeface="Calibri"/>
              </a:rPr>
              <a:t> factors—</a:t>
            </a:r>
            <a:r>
              <a:rPr sz="1100" dirty="0">
                <a:latin typeface="Calibri"/>
                <a:cs typeface="Calibri"/>
              </a:rPr>
              <a:t>was </a:t>
            </a:r>
            <a:r>
              <a:rPr sz="1100" spc="-10" dirty="0">
                <a:latin typeface="Calibri"/>
                <a:cs typeface="Calibri"/>
              </a:rPr>
              <a:t>followed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notable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decline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April,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pointing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possible</a:t>
            </a:r>
            <a:r>
              <a:rPr sz="1100" spc="-10" dirty="0">
                <a:latin typeface="Calibri"/>
                <a:cs typeface="Calibri"/>
              </a:rPr>
              <a:t> external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market</a:t>
            </a:r>
            <a:r>
              <a:rPr sz="1100" spc="-10" dirty="0">
                <a:latin typeface="Calibri"/>
                <a:cs typeface="Calibri"/>
              </a:rPr>
              <a:t> pressures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internal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operational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affecting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consistency.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394451"/>
            <a:ext cx="27266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Sales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5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Mode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9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Distribution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300" y="7606434"/>
            <a:ext cx="5539105" cy="96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36830" indent="-228600">
              <a:lnSpc>
                <a:spcPct val="109100"/>
              </a:lnSpc>
              <a:spcBef>
                <a:spcPts val="95"/>
              </a:spcBef>
              <a:buSzPct val="109090"/>
              <a:buFont typeface="Symbol"/>
              <a:buChar char=""/>
              <a:tabLst>
                <a:tab pos="241300" algn="l"/>
              </a:tabLst>
            </a:pPr>
            <a:r>
              <a:rPr sz="1100" b="1" dirty="0">
                <a:latin typeface="Calibri"/>
                <a:cs typeface="Calibri"/>
              </a:rPr>
              <a:t>Sales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-10" dirty="0">
                <a:latin typeface="Calibri"/>
                <a:cs typeface="Calibri"/>
              </a:rPr>
              <a:t> Breakdown: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majority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Shield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Insurance’s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sales,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contributing </a:t>
            </a:r>
            <a:r>
              <a:rPr sz="1100" dirty="0">
                <a:latin typeface="Calibri"/>
                <a:cs typeface="Calibri"/>
              </a:rPr>
              <a:t>55.41%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volume.</a:t>
            </a:r>
            <a:endParaRPr sz="1100">
              <a:latin typeface="Calibri"/>
              <a:cs typeface="Calibri"/>
            </a:endParaRPr>
          </a:p>
          <a:p>
            <a:pPr marL="240665" marR="5080" indent="-228600">
              <a:lnSpc>
                <a:spcPct val="109500"/>
              </a:lnSpc>
              <a:spcBef>
                <a:spcPts val="17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Insights: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Other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key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channels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(16.03%),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Direct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(15.86%),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Website </a:t>
            </a:r>
            <a:r>
              <a:rPr sz="1100" dirty="0">
                <a:latin typeface="Calibri"/>
                <a:cs typeface="Calibri"/>
              </a:rPr>
              <a:t>(12.70%),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highlighting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continued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dominance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ofline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channels,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with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Direct </a:t>
            </a:r>
            <a:r>
              <a:rPr sz="1100" dirty="0">
                <a:latin typeface="Calibri"/>
                <a:cs typeface="Calibri"/>
              </a:rPr>
              <a:t>collectively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accounting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70%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sales.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2859" y="1568196"/>
            <a:ext cx="5040341" cy="24470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2859" y="5767578"/>
            <a:ext cx="4745700" cy="1803361"/>
          </a:xfrm>
          <a:prstGeom prst="rect">
            <a:avLst/>
          </a:prstGeom>
        </p:spPr>
      </p:pic>
      <p:pic>
        <p:nvPicPr>
          <p:cNvPr id="8" name="Months wise trend ">
            <a:hlinkClick r:id="" action="ppaction://media"/>
            <a:extLst>
              <a:ext uri="{FF2B5EF4-FFF2-40B4-BE49-F238E27FC236}">
                <a16:creationId xmlns:a16="http://schemas.microsoft.com/office/drawing/2014/main" id="{47D25F35-867F-0EB7-2568-F4E40126C2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43600" y="76390"/>
            <a:ext cx="487363" cy="487363"/>
          </a:xfrm>
          <a:prstGeom prst="rect">
            <a:avLst/>
          </a:prstGeom>
        </p:spPr>
      </p:pic>
      <p:pic>
        <p:nvPicPr>
          <p:cNvPr id="9" name="Sales modes distribution ">
            <a:hlinkClick r:id="" action="ppaction://media"/>
            <a:extLst>
              <a:ext uri="{FF2B5EF4-FFF2-40B4-BE49-F238E27FC236}">
                <a16:creationId xmlns:a16="http://schemas.microsoft.com/office/drawing/2014/main" id="{FCC39949-A0D3-899E-F677-56CD365A256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43600" y="87630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2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1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00" y="900175"/>
            <a:ext cx="27012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Revenue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by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Sales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0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Mode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4224020"/>
            <a:ext cx="5676265" cy="212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spc="-20" dirty="0">
                <a:latin typeface="Calibri"/>
                <a:cs typeface="Calibri"/>
              </a:rPr>
              <a:t>Offline-</a:t>
            </a:r>
            <a:r>
              <a:rPr sz="1100" b="1" dirty="0">
                <a:latin typeface="Calibri"/>
                <a:cs typeface="Calibri"/>
              </a:rPr>
              <a:t>Agent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Leads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Significantly</a:t>
            </a:r>
            <a:r>
              <a:rPr sz="1100" spc="-10" dirty="0"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 marL="240665" marR="5080">
              <a:lnSpc>
                <a:spcPct val="101800"/>
              </a:lnSpc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Ofline-Agent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contributes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highest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share of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 ₹551M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(55.67%),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indicating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remains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primary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sales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driver.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Online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Channels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Are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Gaining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Ground:</a:t>
            </a:r>
            <a:endParaRPr sz="1100">
              <a:latin typeface="Calibri"/>
              <a:cs typeface="Calibri"/>
            </a:endParaRPr>
          </a:p>
          <a:p>
            <a:pPr marL="241300" marR="120014">
              <a:lnSpc>
                <a:spcPct val="101800"/>
              </a:lnSpc>
            </a:pPr>
            <a:r>
              <a:rPr sz="1100" dirty="0">
                <a:latin typeface="Calibri"/>
                <a:cs typeface="Calibri"/>
              </a:rPr>
              <a:t>Combined,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Online-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Online-Website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channels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₹286M </a:t>
            </a:r>
            <a:r>
              <a:rPr sz="1100" spc="-10" dirty="0">
                <a:latin typeface="Calibri"/>
                <a:cs typeface="Calibri"/>
              </a:rPr>
              <a:t>(28.87%),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reflecting </a:t>
            </a:r>
            <a:r>
              <a:rPr sz="1100" dirty="0">
                <a:latin typeface="Calibri"/>
                <a:cs typeface="Calibri"/>
              </a:rPr>
              <a:t>growing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customer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preference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platforms.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spc="-20" dirty="0">
                <a:latin typeface="Calibri"/>
                <a:cs typeface="Calibri"/>
              </a:rPr>
              <a:t>Offline-</a:t>
            </a:r>
            <a:r>
              <a:rPr sz="1100" b="1" dirty="0">
                <a:latin typeface="Calibri"/>
                <a:cs typeface="Calibri"/>
              </a:rPr>
              <a:t>Direct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Has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 </a:t>
            </a:r>
            <a:r>
              <a:rPr sz="1100" b="1" spc="-10" dirty="0">
                <a:latin typeface="Calibri"/>
                <a:cs typeface="Calibri"/>
              </a:rPr>
              <a:t>Smallest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Share:</a:t>
            </a:r>
            <a:endParaRPr sz="11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Ofline-Direct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contributes</a:t>
            </a:r>
            <a:r>
              <a:rPr sz="1100" dirty="0">
                <a:latin typeface="Calibri"/>
                <a:cs typeface="Calibri"/>
              </a:rPr>
              <a:t> 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 ₹125M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(12.6%),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suggesting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 may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 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least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effective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or</a:t>
            </a:r>
            <a:endParaRPr sz="11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outdated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market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environment.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Balanced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Online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Contribution:</a:t>
            </a:r>
            <a:endParaRPr sz="1100">
              <a:latin typeface="Calibri"/>
              <a:cs typeface="Calibri"/>
            </a:endParaRPr>
          </a:p>
          <a:p>
            <a:pPr marL="240665" marR="34290">
              <a:lnSpc>
                <a:spcPct val="100899"/>
              </a:lnSpc>
              <a:spcBef>
                <a:spcPts val="15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Online-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10" dirty="0">
                <a:latin typeface="Calibri"/>
                <a:cs typeface="Calibri"/>
              </a:rPr>
              <a:t> (₹161M)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Online-Website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(₹153M)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channels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 nearly balanced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revenue </a:t>
            </a:r>
            <a:r>
              <a:rPr sz="1100" dirty="0">
                <a:latin typeface="Calibri"/>
                <a:cs typeface="Calibri"/>
              </a:rPr>
              <a:t>share,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showcasing</a:t>
            </a:r>
            <a:r>
              <a:rPr sz="1100" spc="-10" dirty="0">
                <a:latin typeface="Calibri"/>
                <a:cs typeface="Calibri"/>
              </a:rPr>
              <a:t> diversified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online user</a:t>
            </a:r>
            <a:r>
              <a:rPr sz="1100" spc="-10" dirty="0">
                <a:latin typeface="Calibri"/>
                <a:cs typeface="Calibri"/>
              </a:rPr>
              <a:t> engagement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both</a:t>
            </a:r>
            <a:r>
              <a:rPr sz="1100" spc="-10" dirty="0">
                <a:latin typeface="Calibri"/>
                <a:cs typeface="Calibri"/>
              </a:rPr>
              <a:t> platforms.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0" y="6549643"/>
            <a:ext cx="4095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Expected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Settlements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by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Age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Group</a:t>
            </a:r>
            <a:endParaRPr sz="2000">
              <a:latin typeface="Lucida Sans"/>
              <a:cs typeface="Lucida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6970" y="1427988"/>
            <a:ext cx="3375379" cy="25976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1164" y="6945500"/>
            <a:ext cx="4602479" cy="1965959"/>
          </a:xfrm>
          <a:prstGeom prst="rect">
            <a:avLst/>
          </a:prstGeom>
        </p:spPr>
      </p:pic>
      <p:pic>
        <p:nvPicPr>
          <p:cNvPr id="7" name="Revenue bybsales mode ">
            <a:hlinkClick r:id="" action="ppaction://media"/>
            <a:extLst>
              <a:ext uri="{FF2B5EF4-FFF2-40B4-BE49-F238E27FC236}">
                <a16:creationId xmlns:a16="http://schemas.microsoft.com/office/drawing/2014/main" id="{08D773D6-17A2-E4FF-EE88-5ADF52582D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43600" y="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681" y="873329"/>
            <a:ext cx="5846445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335280" indent="-291465">
              <a:lnSpc>
                <a:spcPct val="112700"/>
              </a:lnSpc>
              <a:spcBef>
                <a:spcPts val="100"/>
              </a:spcBef>
              <a:buClr>
                <a:srgbClr val="585858"/>
              </a:buClr>
              <a:buSzPct val="90909"/>
              <a:buFont typeface="Times New Roman"/>
              <a:buChar char="●"/>
              <a:tabLst>
                <a:tab pos="521334" algn="l"/>
              </a:tabLst>
            </a:pPr>
            <a:r>
              <a:rPr sz="1100" dirty="0">
                <a:latin typeface="Calibri"/>
                <a:cs typeface="Calibri"/>
              </a:rPr>
              <a:t>31–40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leads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highest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expected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settlement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₹480.06M,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indicating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this 	</a:t>
            </a:r>
            <a:r>
              <a:rPr sz="1100" dirty="0">
                <a:latin typeface="Calibri"/>
                <a:cs typeface="Calibri"/>
              </a:rPr>
              <a:t>segment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holds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large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high-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policies.</a:t>
            </a:r>
            <a:endParaRPr sz="1100">
              <a:latin typeface="Calibri"/>
              <a:cs typeface="Calibri"/>
            </a:endParaRPr>
          </a:p>
          <a:p>
            <a:pPr marL="469265" marR="59690" indent="-291465">
              <a:lnSpc>
                <a:spcPct val="112700"/>
              </a:lnSpc>
              <a:spcBef>
                <a:spcPts val="130"/>
              </a:spcBef>
              <a:buClr>
                <a:srgbClr val="585858"/>
              </a:buClr>
              <a:buSzPct val="90909"/>
              <a:buFont typeface="Times New Roman"/>
              <a:buChar char="●"/>
              <a:tabLst>
                <a:tab pos="521334" algn="l"/>
              </a:tabLst>
            </a:pPr>
            <a:r>
              <a:rPr sz="1100" dirty="0">
                <a:latin typeface="Calibri"/>
                <a:cs typeface="Calibri"/>
              </a:rPr>
              <a:t>41–50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₹363.8M,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65+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closely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trails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₹349.94M,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representing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significant 	</a:t>
            </a:r>
            <a:r>
              <a:rPr sz="1100" dirty="0">
                <a:latin typeface="Calibri"/>
                <a:cs typeface="Calibri"/>
              </a:rPr>
              <a:t>portions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expected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payouts.</a:t>
            </a:r>
            <a:endParaRPr sz="1100">
              <a:latin typeface="Calibri"/>
              <a:cs typeface="Calibri"/>
            </a:endParaRPr>
          </a:p>
          <a:p>
            <a:pPr marL="469265" marR="98425" indent="-291465">
              <a:lnSpc>
                <a:spcPct val="112700"/>
              </a:lnSpc>
              <a:spcBef>
                <a:spcPts val="135"/>
              </a:spcBef>
              <a:buClr>
                <a:srgbClr val="585858"/>
              </a:buClr>
              <a:buSzPct val="90909"/>
              <a:buFont typeface="Times New Roman"/>
              <a:buChar char="●"/>
              <a:tabLst>
                <a:tab pos="521334" algn="l"/>
              </a:tabLst>
            </a:pPr>
            <a:r>
              <a:rPr sz="1100" dirty="0">
                <a:latin typeface="Calibri"/>
                <a:cs typeface="Calibri"/>
              </a:rPr>
              <a:t>51–65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moderate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figure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₹273.48M,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sustained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policy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engagement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later 	</a:t>
            </a:r>
            <a:r>
              <a:rPr sz="1100" dirty="0">
                <a:latin typeface="Calibri"/>
                <a:cs typeface="Calibri"/>
              </a:rPr>
              <a:t>working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years.</a:t>
            </a:r>
            <a:endParaRPr sz="1100">
              <a:latin typeface="Calibri"/>
              <a:cs typeface="Calibri"/>
            </a:endParaRPr>
          </a:p>
          <a:p>
            <a:pPr marL="469265" marR="5080" indent="-291465">
              <a:lnSpc>
                <a:spcPct val="111800"/>
              </a:lnSpc>
              <a:spcBef>
                <a:spcPts val="155"/>
              </a:spcBef>
              <a:buClr>
                <a:srgbClr val="585858"/>
              </a:buClr>
              <a:buSzPct val="90909"/>
              <a:buFont typeface="Times New Roman"/>
              <a:buChar char="●"/>
              <a:tabLst>
                <a:tab pos="521334" algn="l"/>
              </a:tabLst>
            </a:pPr>
            <a:r>
              <a:rPr sz="1100" dirty="0">
                <a:latin typeface="Calibri"/>
                <a:cs typeface="Calibri"/>
              </a:rPr>
              <a:t>25–30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18–24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lowest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expected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settlements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₹83.02M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₹35.17M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respectively, 	reflecting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fewer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0" dirty="0">
                <a:latin typeface="Calibri"/>
                <a:cs typeface="Calibri"/>
              </a:rPr>
              <a:t> lower-</a:t>
            </a:r>
            <a:r>
              <a:rPr sz="1100" dirty="0">
                <a:latin typeface="Calibri"/>
                <a:cs typeface="Calibri"/>
              </a:rPr>
              <a:t>value policies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younger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individuals.</a:t>
            </a:r>
            <a:endParaRPr sz="1100">
              <a:latin typeface="Calibri"/>
              <a:cs typeface="Calibri"/>
            </a:endParaRPr>
          </a:p>
          <a:p>
            <a:pPr marL="12700" marR="126364">
              <a:lnSpc>
                <a:spcPct val="112300"/>
              </a:lnSpc>
              <a:spcBef>
                <a:spcPts val="15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expected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settlements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concentrated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31–65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range,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peak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31–40 </a:t>
            </a:r>
            <a:r>
              <a:rPr sz="1100" dirty="0">
                <a:latin typeface="Calibri"/>
                <a:cs typeface="Calibri"/>
              </a:rPr>
              <a:t>group.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suggests</a:t>
            </a:r>
            <a:r>
              <a:rPr sz="1100" spc="-10" dirty="0">
                <a:latin typeface="Calibri"/>
                <a:cs typeface="Calibri"/>
              </a:rPr>
              <a:t> middle-</a:t>
            </a:r>
            <a:r>
              <a:rPr sz="1100" dirty="0">
                <a:latin typeface="Calibri"/>
                <a:cs typeface="Calibri"/>
              </a:rPr>
              <a:t>aged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highly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insured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represent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critical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focus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spc="-10" dirty="0">
                <a:latin typeface="Calibri"/>
                <a:cs typeface="Calibri"/>
              </a:rPr>
              <a:t>claim-</a:t>
            </a:r>
            <a:r>
              <a:rPr sz="1100" dirty="0">
                <a:latin typeface="Calibri"/>
                <a:cs typeface="Calibri"/>
              </a:rPr>
              <a:t>related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-10" dirty="0">
                <a:latin typeface="Calibri"/>
                <a:cs typeface="Calibri"/>
              </a:rPr>
              <a:t> management.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3269996"/>
            <a:ext cx="33166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13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Medium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wise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Monthly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Trends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7500" y="7408314"/>
            <a:ext cx="5248910" cy="15157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Agent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Dominates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but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Volatile:</a:t>
            </a:r>
            <a:endParaRPr sz="1100">
              <a:latin typeface="Calibri"/>
              <a:cs typeface="Calibri"/>
            </a:endParaRPr>
          </a:p>
          <a:p>
            <a:pPr marL="240665" marR="91440">
              <a:lnSpc>
                <a:spcPts val="1450"/>
              </a:lnSpc>
              <a:spcBef>
                <a:spcPts val="60"/>
              </a:spcBef>
            </a:pPr>
            <a:r>
              <a:rPr sz="1100" spc="-10" dirty="0">
                <a:latin typeface="Calibri"/>
                <a:cs typeface="Calibri"/>
              </a:rPr>
              <a:t>Revenue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agents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highest</a:t>
            </a:r>
            <a:r>
              <a:rPr sz="1100" spc="-10" dirty="0">
                <a:latin typeface="Calibri"/>
                <a:cs typeface="Calibri"/>
              </a:rPr>
              <a:t> performance, </a:t>
            </a:r>
            <a:r>
              <a:rPr sz="1100" dirty="0">
                <a:latin typeface="Calibri"/>
                <a:cs typeface="Calibri"/>
              </a:rPr>
              <a:t>peaking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sharply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₹134M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dirty="0">
                <a:latin typeface="Calibri"/>
                <a:cs typeface="Calibri"/>
              </a:rPr>
              <a:t>March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2023</a:t>
            </a:r>
            <a:r>
              <a:rPr sz="1100" spc="-10" dirty="0">
                <a:latin typeface="Calibri"/>
                <a:cs typeface="Calibri"/>
              </a:rPr>
              <a:t> before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declining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₹69M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April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possible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seasonal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spike</a:t>
            </a:r>
            <a:r>
              <a:rPr sz="1100" spc="-25" dirty="0">
                <a:latin typeface="Calibri"/>
                <a:cs typeface="Calibri"/>
              </a:rPr>
              <a:t> or </a:t>
            </a:r>
            <a:r>
              <a:rPr sz="1100" dirty="0">
                <a:latin typeface="Calibri"/>
                <a:cs typeface="Calibri"/>
              </a:rPr>
              <a:t>campaign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effect.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3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App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Website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Channels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Growing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Consistently: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Calibri"/>
                <a:cs typeface="Calibri"/>
              </a:rPr>
              <a:t>Both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Website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steady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strong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upward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trajectory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Nov</a:t>
            </a:r>
            <a:endParaRPr sz="1100">
              <a:latin typeface="Calibri"/>
              <a:cs typeface="Calibri"/>
            </a:endParaRPr>
          </a:p>
          <a:p>
            <a:pPr marL="241300" marR="5080">
              <a:lnSpc>
                <a:spcPts val="1450"/>
              </a:lnSpc>
              <a:spcBef>
                <a:spcPts val="60"/>
              </a:spcBef>
            </a:pPr>
            <a:r>
              <a:rPr sz="1100" dirty="0">
                <a:latin typeface="Calibri"/>
                <a:cs typeface="Calibri"/>
              </a:rPr>
              <a:t>2022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April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2023,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Website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reaching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₹42M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₹33M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April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reflecting </a:t>
            </a:r>
            <a:r>
              <a:rPr sz="1100" dirty="0">
                <a:latin typeface="Calibri"/>
                <a:cs typeface="Calibri"/>
              </a:rPr>
              <a:t>increasing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adoption.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975" y="4207764"/>
            <a:ext cx="5121868" cy="2963312"/>
          </a:xfrm>
          <a:prstGeom prst="rect">
            <a:avLst/>
          </a:prstGeom>
        </p:spPr>
      </p:pic>
      <p:pic>
        <p:nvPicPr>
          <p:cNvPr id="6" name="Medium wise monthly Trends">
            <a:hlinkClick r:id="" action="ppaction://media"/>
            <a:extLst>
              <a:ext uri="{FF2B5EF4-FFF2-40B4-BE49-F238E27FC236}">
                <a16:creationId xmlns:a16="http://schemas.microsoft.com/office/drawing/2014/main" id="{F33660E1-0E4E-668C-03B2-646BD2DBA6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0" y="313903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7500" y="900834"/>
            <a:ext cx="5140960" cy="15157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Direct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Shows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Continuous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Decline:</a:t>
            </a:r>
            <a:endParaRPr sz="1100">
              <a:latin typeface="Calibri"/>
              <a:cs typeface="Calibri"/>
            </a:endParaRPr>
          </a:p>
          <a:p>
            <a:pPr marL="240665" marR="5080">
              <a:lnSpc>
                <a:spcPts val="1450"/>
              </a:lnSpc>
              <a:spcBef>
                <a:spcPts val="60"/>
              </a:spcBef>
            </a:pPr>
            <a:r>
              <a:rPr sz="1100" spc="-10" dirty="0">
                <a:latin typeface="Calibri"/>
                <a:cs typeface="Calibri"/>
              </a:rPr>
              <a:t>Revenue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Direct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channel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steadily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decreasing,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dropping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₹40M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dirty="0">
                <a:latin typeface="Calibri"/>
                <a:cs typeface="Calibri"/>
              </a:rPr>
              <a:t>Nov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2022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just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₹10M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April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2023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potentially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signaling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reduced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effectiveness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shift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consumer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behavior.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2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Digital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Channels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Surpass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Direct:</a:t>
            </a:r>
            <a:endParaRPr sz="1100">
              <a:latin typeface="Calibri"/>
              <a:cs typeface="Calibri"/>
            </a:endParaRPr>
          </a:p>
          <a:p>
            <a:pPr marL="241300" marR="284480">
              <a:lnSpc>
                <a:spcPts val="1450"/>
              </a:lnSpc>
              <a:spcBef>
                <a:spcPts val="60"/>
              </a:spcBef>
            </a:pPr>
            <a:r>
              <a:rPr sz="1100" dirty="0">
                <a:latin typeface="Calibri"/>
                <a:cs typeface="Calibri"/>
              </a:rPr>
              <a:t>By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February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2023,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(App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Website)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overtook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Direct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revenue generation,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emphasizing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significant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transition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towards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tech-</a:t>
            </a:r>
            <a:r>
              <a:rPr sz="1100" dirty="0">
                <a:latin typeface="Calibri"/>
                <a:cs typeface="Calibri"/>
              </a:rPr>
              <a:t>driven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platforms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customer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acquisition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engagement.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698496"/>
            <a:ext cx="3597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Policy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Preference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5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by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Age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Group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0" y="6353651"/>
            <a:ext cx="5659755" cy="23437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54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Most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Popular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Policy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Overall: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sz="1100" b="1" spc="-10" dirty="0">
                <a:latin typeface="Calibri"/>
                <a:cs typeface="Calibri"/>
              </a:rPr>
              <a:t>POL4321HEL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preferred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policy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4,434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selections,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strong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appeal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across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sz="1100" dirty="0">
                <a:latin typeface="Calibri"/>
                <a:cs typeface="Calibri"/>
              </a:rPr>
              <a:t>various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especially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25–40-</a:t>
            </a:r>
            <a:r>
              <a:rPr sz="1100" spc="-25" dirty="0">
                <a:latin typeface="Calibri"/>
                <a:cs typeface="Calibri"/>
              </a:rPr>
              <a:t>year-</a:t>
            </a:r>
            <a:r>
              <a:rPr sz="1100" spc="-20" dirty="0">
                <a:latin typeface="Calibri"/>
                <a:cs typeface="Calibri"/>
              </a:rPr>
              <a:t>olds.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spc="-10" dirty="0">
                <a:latin typeface="Calibri"/>
                <a:cs typeface="Calibri"/>
              </a:rPr>
              <a:t>Highest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Age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Group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Engagement: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31–40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age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group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highest</a:t>
            </a:r>
            <a:r>
              <a:rPr sz="1100" spc="-10" dirty="0">
                <a:latin typeface="Calibri"/>
                <a:cs typeface="Calibri"/>
              </a:rPr>
              <a:t> engagement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overall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10,460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policies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selected,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sz="1100" dirty="0">
                <a:latin typeface="Calibri"/>
                <a:cs typeface="Calibri"/>
              </a:rPr>
              <a:t>suggesting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active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purchasing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health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insurance.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Policy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Popular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Among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Seniors:</a:t>
            </a:r>
            <a:endParaRPr sz="1100">
              <a:latin typeface="Calibri"/>
              <a:cs typeface="Calibri"/>
            </a:endParaRPr>
          </a:p>
          <a:p>
            <a:pPr marL="240665" marR="32384">
              <a:lnSpc>
                <a:spcPct val="111800"/>
              </a:lnSpc>
            </a:pPr>
            <a:r>
              <a:rPr sz="1100" b="1" spc="-10" dirty="0">
                <a:latin typeface="Calibri"/>
                <a:cs typeface="Calibri"/>
              </a:rPr>
              <a:t>POL2005HEL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65+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age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group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618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selections,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10" dirty="0">
                <a:latin typeface="Calibri"/>
                <a:cs typeface="Calibri"/>
              </a:rPr>
              <a:t> segment, </a:t>
            </a:r>
            <a:r>
              <a:rPr sz="1100" dirty="0">
                <a:latin typeface="Calibri"/>
                <a:cs typeface="Calibri"/>
              </a:rPr>
              <a:t>indicating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tailored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attractive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5"/>
              </a:spcBef>
              <a:buSzPct val="109090"/>
              <a:buFont typeface="Symbol"/>
              <a:buChar char=""/>
              <a:tabLst>
                <a:tab pos="240665" algn="l"/>
              </a:tabLst>
            </a:pPr>
            <a:r>
              <a:rPr sz="1100" b="1" spc="-20" dirty="0">
                <a:latin typeface="Calibri"/>
                <a:cs typeface="Calibri"/>
              </a:rPr>
              <a:t>Youth</a:t>
            </a:r>
            <a:r>
              <a:rPr sz="1100" b="1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Preference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Skewed: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sz="1100" spc="-10" dirty="0">
                <a:latin typeface="Calibri"/>
                <a:cs typeface="Calibri"/>
              </a:rPr>
              <a:t>Younger customers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(18–24)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 strong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interest 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POL4321HEL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POL3309HEL</a:t>
            </a:r>
            <a:r>
              <a:rPr sz="1100" spc="-10" dirty="0">
                <a:latin typeface="Calibri"/>
                <a:cs typeface="Calibri"/>
              </a:rPr>
              <a:t>, together</a:t>
            </a:r>
            <a:endParaRPr sz="11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160"/>
              </a:spcBef>
            </a:pPr>
            <a:r>
              <a:rPr sz="1100" dirty="0">
                <a:latin typeface="Calibri"/>
                <a:cs typeface="Calibri"/>
              </a:rPr>
              <a:t>accounting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nearly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500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selections,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hinting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entry-</a:t>
            </a:r>
            <a:r>
              <a:rPr sz="1100" dirty="0">
                <a:latin typeface="Calibri"/>
                <a:cs typeface="Calibri"/>
              </a:rPr>
              <a:t>level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0" dirty="0">
                <a:latin typeface="Calibri"/>
                <a:cs typeface="Calibri"/>
              </a:rPr>
              <a:t> budget-</a:t>
            </a:r>
            <a:r>
              <a:rPr sz="1100" dirty="0">
                <a:latin typeface="Calibri"/>
                <a:cs typeface="Calibri"/>
              </a:rPr>
              <a:t>friendly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offerings.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1650" y="3509711"/>
            <a:ext cx="4238624" cy="2571749"/>
          </a:xfrm>
          <a:prstGeom prst="rect">
            <a:avLst/>
          </a:prstGeom>
        </p:spPr>
      </p:pic>
      <p:pic>
        <p:nvPicPr>
          <p:cNvPr id="6" name="Policies preferred ">
            <a:hlinkClick r:id="" action="ppaction://media"/>
            <a:extLst>
              <a:ext uri="{FF2B5EF4-FFF2-40B4-BE49-F238E27FC236}">
                <a16:creationId xmlns:a16="http://schemas.microsoft.com/office/drawing/2014/main" id="{9C499DAD-570C-D6D1-34A1-CAF5C1774D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10200" y="2475781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8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00" y="900175"/>
            <a:ext cx="2131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90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Recommendations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1397584"/>
            <a:ext cx="5732145" cy="247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6515" indent="-228600">
              <a:lnSpc>
                <a:spcPct val="1127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1300" algn="l"/>
              </a:tabLst>
            </a:pPr>
            <a:r>
              <a:rPr sz="1100" b="1" dirty="0">
                <a:latin typeface="Calibri"/>
                <a:cs typeface="Calibri"/>
              </a:rPr>
              <a:t>Customer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Growth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10" dirty="0">
                <a:latin typeface="Calibri"/>
                <a:cs typeface="Calibri"/>
              </a:rPr>
              <a:t> Revenue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Stability: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Leverage </a:t>
            </a:r>
            <a:r>
              <a:rPr sz="1100" dirty="0">
                <a:latin typeface="Calibri"/>
                <a:cs typeface="Calibri"/>
              </a:rPr>
              <a:t>predictive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analytics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anticipate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manage revenue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fluctuations.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Focus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expanding</a:t>
            </a:r>
            <a:r>
              <a:rPr sz="1100" spc="-10" dirty="0">
                <a:latin typeface="Calibri"/>
                <a:cs typeface="Calibri"/>
              </a:rPr>
              <a:t> engagement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underrepresented </a:t>
            </a:r>
            <a:r>
              <a:rPr sz="1100" dirty="0">
                <a:latin typeface="Calibri"/>
                <a:cs typeface="Calibri"/>
              </a:rPr>
              <a:t>18–24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65+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segments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growth.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b="1" spc="-10" dirty="0">
                <a:latin typeface="Calibri"/>
                <a:cs typeface="Calibri"/>
              </a:rPr>
              <a:t>Retention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Strategy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by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Age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Group: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Prioritize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retention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initiatives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high-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-10" dirty="0">
                <a:latin typeface="Calibri"/>
                <a:cs typeface="Calibri"/>
              </a:rPr>
              <a:t> 31–40</a:t>
            </a:r>
            <a:endParaRPr sz="11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sz="1100" dirty="0">
                <a:latin typeface="Calibri"/>
                <a:cs typeface="Calibri"/>
              </a:rPr>
              <a:t>segment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 </a:t>
            </a:r>
            <a:r>
              <a:rPr sz="1100" spc="-10" dirty="0">
                <a:latin typeface="Calibri"/>
                <a:cs typeface="Calibri"/>
              </a:rPr>
              <a:t>personalized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offerings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targeted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communication.</a:t>
            </a:r>
            <a:endParaRPr sz="1100">
              <a:latin typeface="Calibri"/>
              <a:cs typeface="Calibri"/>
            </a:endParaRPr>
          </a:p>
          <a:p>
            <a:pPr marL="240665" marR="45085" indent="-228600">
              <a:lnSpc>
                <a:spcPts val="1490"/>
              </a:lnSpc>
              <a:spcBef>
                <a:spcPts val="6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Regional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Expansion: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Replicate </a:t>
            </a:r>
            <a:r>
              <a:rPr sz="1100" dirty="0">
                <a:latin typeface="Calibri"/>
                <a:cs typeface="Calibri"/>
              </a:rPr>
              <a:t>successful</a:t>
            </a:r>
            <a:r>
              <a:rPr sz="1100" spc="-10" dirty="0">
                <a:latin typeface="Calibri"/>
                <a:cs typeface="Calibri"/>
              </a:rPr>
              <a:t> strategies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Delhi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NCR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high-</a:t>
            </a:r>
            <a:r>
              <a:rPr sz="1100" dirty="0">
                <a:latin typeface="Calibri"/>
                <a:cs typeface="Calibri"/>
              </a:rPr>
              <a:t>potential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like </a:t>
            </a:r>
            <a:r>
              <a:rPr sz="1100" dirty="0">
                <a:latin typeface="Calibri"/>
                <a:cs typeface="Calibri"/>
              </a:rPr>
              <a:t>Mumbai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Chennai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accelerate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regional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performance.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Sales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Enhancement: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Strengthen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platforms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(App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Website)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better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attract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70"/>
              </a:spcBef>
            </a:pP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retain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younger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prefer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online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interactions.</a:t>
            </a:r>
            <a:endParaRPr sz="1100">
              <a:latin typeface="Calibri"/>
              <a:cs typeface="Calibri"/>
            </a:endParaRPr>
          </a:p>
          <a:p>
            <a:pPr marL="240665" marR="5080" indent="-228600">
              <a:lnSpc>
                <a:spcPts val="1490"/>
              </a:lnSpc>
              <a:spcBef>
                <a:spcPts val="6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Risk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Policy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Management: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Design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5" dirty="0">
                <a:latin typeface="Calibri"/>
                <a:cs typeface="Calibri"/>
              </a:rPr>
              <a:t>risk-</a:t>
            </a:r>
            <a:r>
              <a:rPr sz="1100" dirty="0">
                <a:latin typeface="Calibri"/>
                <a:cs typeface="Calibri"/>
              </a:rPr>
              <a:t>optimized,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tailored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policies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high-</a:t>
            </a:r>
            <a:r>
              <a:rPr sz="1100" dirty="0">
                <a:latin typeface="Calibri"/>
                <a:cs typeface="Calibri"/>
              </a:rPr>
              <a:t>claim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segments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such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31–40,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25–30,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41–50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enhance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profitability.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Product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Channel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Alignment: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Align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product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design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channel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strategy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preferences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maximize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engagement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customer</a:t>
            </a:r>
            <a:r>
              <a:rPr sz="1100" spc="-10" dirty="0">
                <a:latin typeface="Calibri"/>
                <a:cs typeface="Calibri"/>
              </a:rPr>
              <a:t> touchpoints.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Recommendation ">
            <a:hlinkClick r:id="" action="ppaction://media"/>
            <a:extLst>
              <a:ext uri="{FF2B5EF4-FFF2-40B4-BE49-F238E27FC236}">
                <a16:creationId xmlns:a16="http://schemas.microsoft.com/office/drawing/2014/main" id="{AFA3B7BF-75B6-0447-F85E-021D4722B2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10200" y="42672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1220</Words>
  <Application>Microsoft Office PowerPoint</Application>
  <PresentationFormat>Custom</PresentationFormat>
  <Paragraphs>82</Paragraphs>
  <Slides>8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Calibri</vt:lpstr>
      <vt:lpstr>Lucida Sans</vt:lpstr>
      <vt:lpstr>Symbol</vt:lpstr>
      <vt:lpstr>Times New Roman</vt:lpstr>
      <vt:lpstr>Office Theme</vt:lpstr>
      <vt:lpstr>SHIELD INSURANCE</vt:lpstr>
      <vt:lpstr>Company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RINKU GUSAIN</dc:creator>
  <dc:description/>
  <cp:lastModifiedBy>RINKU GUSAIN</cp:lastModifiedBy>
  <cp:revision>2</cp:revision>
  <dcterms:created xsi:type="dcterms:W3CDTF">2025-04-15T17:31:28Z</dcterms:created>
  <dcterms:modified xsi:type="dcterms:W3CDTF">2025-04-15T17:54:13Z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2025-04-15T00:00:00Z</vt:filetime>
  </property>
  <property fmtid="{D5CDD505-2E9C-101B-9397-08002B2CF9AE}" pid="3" name="Creator">
    <vt:lpwstr>Acrobat PDFMaker 21 for Word</vt:lpwstr>
  </property>
  <property fmtid="{D5CDD505-2E9C-101B-9397-08002B2CF9AE}" pid="4" name="LastSaved">
    <vt:filetime>2025-04-15T00:00:00Z</vt:filetime>
  </property>
  <property fmtid="{D5CDD505-2E9C-101B-9397-08002B2CF9AE}" pid="5" name="Producer">
    <vt:lpwstr>Adobe PDF Library 21.7.127</vt:lpwstr>
  </property>
  <property fmtid="{D5CDD505-2E9C-101B-9397-08002B2CF9AE}" pid="6" name="SourceModified">
    <vt:lpwstr>D:20250415172240</vt:lpwstr>
  </property>
</Properties>
</file>